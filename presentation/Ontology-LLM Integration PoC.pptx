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a0baa8ace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" name="Google Shape;53;g3a0baa8ace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0baa8ac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0baa8ac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0baa8ace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0baa8ace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a0baa8ace7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a0baa8ace7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0baa8ace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a0baa8ace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0baa8ace7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0baa8ace7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0baa8ace7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0baa8ace7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0" name="Google Shape;20;p4"/>
          <p:cNvCxnSpPr/>
          <p:nvPr/>
        </p:nvCxnSpPr>
        <p:spPr>
          <a:xfrm>
            <a:off x="-52925" y="784939"/>
            <a:ext cx="92253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" name="Google Shape;28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2" name="Google Shape;32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5" name="Google Shape;3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3"/>
          <p:cNvSpPr txBox="1"/>
          <p:nvPr>
            <p:ph type="title"/>
          </p:nvPr>
        </p:nvSpPr>
        <p:spPr>
          <a:xfrm>
            <a:off x="311700" y="1976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PoC: LLM-driven Ontology</a:t>
            </a:r>
            <a:endParaRPr b="1"/>
          </a:p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43850" y="1095300"/>
            <a:ext cx="8256300" cy="3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PoC covers:</a:t>
            </a:r>
            <a:endParaRPr>
              <a:solidFill>
                <a:srgbClr val="000000"/>
              </a:solidFill>
            </a:endParaRPr>
          </a:p>
          <a:p>
            <a:pPr indent="-334327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>
                <a:solidFill>
                  <a:srgbClr val="000000"/>
                </a:solidFill>
              </a:rPr>
              <a:t>Structured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b="1" lang="en">
                <a:solidFill>
                  <a:srgbClr val="000000"/>
                </a:solidFill>
              </a:rPr>
              <a:t>unstructured</a:t>
            </a:r>
            <a:r>
              <a:rPr lang="en">
                <a:solidFill>
                  <a:srgbClr val="000000"/>
                </a:solidFill>
              </a:rPr>
              <a:t> illustrative </a:t>
            </a:r>
            <a:r>
              <a:rPr b="1" lang="en">
                <a:solidFill>
                  <a:srgbClr val="000000"/>
                </a:solidFill>
              </a:rPr>
              <a:t>data</a:t>
            </a:r>
            <a:r>
              <a:rPr lang="en">
                <a:solidFill>
                  <a:srgbClr val="000000"/>
                </a:solidFill>
              </a:rPr>
              <a:t> about products and logistics.</a:t>
            </a:r>
            <a:br>
              <a:rPr lang="en">
                <a:solidFill>
                  <a:srgbClr val="000000"/>
                </a:solidFill>
              </a:rPr>
            </a:br>
            <a:endParaRPr>
              <a:solidFill>
                <a:srgbClr val="000000"/>
              </a:solidFill>
            </a:endParaRPr>
          </a:p>
          <a:p>
            <a:pPr indent="-334327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b="1" lang="en">
                <a:solidFill>
                  <a:srgbClr val="000000"/>
                </a:solidFill>
              </a:rPr>
              <a:t>LLM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b="1" lang="en">
                <a:solidFill>
                  <a:srgbClr val="000000"/>
                </a:solidFill>
              </a:rPr>
              <a:t>agents</a:t>
            </a:r>
            <a:r>
              <a:rPr lang="en">
                <a:solidFill>
                  <a:srgbClr val="000000"/>
                </a:solidFill>
              </a:rPr>
              <a:t> that </a:t>
            </a:r>
            <a:r>
              <a:rPr b="1" lang="en">
                <a:solidFill>
                  <a:srgbClr val="000000"/>
                </a:solidFill>
              </a:rPr>
              <a:t>generate ontologies</a:t>
            </a:r>
            <a:r>
              <a:rPr lang="en">
                <a:solidFill>
                  <a:srgbClr val="000000"/>
                </a:solidFill>
              </a:rPr>
              <a:t> and </a:t>
            </a:r>
            <a:r>
              <a:rPr b="1" lang="en">
                <a:solidFill>
                  <a:srgbClr val="000000"/>
                </a:solidFill>
              </a:rPr>
              <a:t>retrieve</a:t>
            </a:r>
            <a:r>
              <a:rPr lang="en">
                <a:solidFill>
                  <a:srgbClr val="000000"/>
                </a:solidFill>
              </a:rPr>
              <a:t> data to answer users’ questions.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i="1" lang="en" sz="1600">
                <a:solidFill>
                  <a:srgbClr val="000000"/>
                </a:solidFill>
              </a:rPr>
              <a:t>The PoC presents how I would approach some issues of </a:t>
            </a:r>
            <a:br>
              <a:rPr i="1" lang="en" sz="1600">
                <a:solidFill>
                  <a:srgbClr val="000000"/>
                </a:solidFill>
              </a:rPr>
            </a:br>
            <a:r>
              <a:rPr i="1" lang="en" sz="1600">
                <a:solidFill>
                  <a:srgbClr val="000000"/>
                </a:solidFill>
              </a:rPr>
              <a:t>Ontologies-LLM integration in a (simplified) </a:t>
            </a:r>
            <a:r>
              <a:rPr b="1" i="1" lang="en" sz="1600">
                <a:solidFill>
                  <a:srgbClr val="000000"/>
                </a:solidFill>
              </a:rPr>
              <a:t>edge-case scenario</a:t>
            </a:r>
            <a:r>
              <a:rPr i="1" lang="en" sz="1600">
                <a:solidFill>
                  <a:srgbClr val="000000"/>
                </a:solidFill>
              </a:rPr>
              <a:t>.</a:t>
            </a:r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 sz="2200"/>
              <a:t>How </a:t>
            </a:r>
            <a:r>
              <a:rPr b="1" lang="en" sz="2200"/>
              <a:t>to Build </a:t>
            </a:r>
            <a:r>
              <a:rPr b="1" lang="en" sz="2200"/>
              <a:t>Logic Models </a:t>
            </a:r>
            <a:r>
              <a:rPr b="1" lang="en" sz="2200"/>
              <a:t>That</a:t>
            </a:r>
            <a:r>
              <a:rPr b="1" lang="en" sz="2200"/>
              <a:t> Handle </a:t>
            </a:r>
            <a:r>
              <a:rPr b="1" lang="en" sz="2200"/>
              <a:t>Complex </a:t>
            </a:r>
            <a:r>
              <a:rPr b="1" lang="en" sz="2200"/>
              <a:t>Data?</a:t>
            </a:r>
            <a:endParaRPr b="1" sz="2200"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12275"/>
            <a:ext cx="8520600" cy="31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00"/>
                </a:solidFill>
              </a:rPr>
              <a:t>LLM can </a:t>
            </a:r>
            <a:r>
              <a:rPr b="1" lang="en" sz="1650">
                <a:solidFill>
                  <a:srgbClr val="000000"/>
                </a:solidFill>
              </a:rPr>
              <a:t>generate</a:t>
            </a:r>
            <a:r>
              <a:rPr lang="en" sz="1650">
                <a:solidFill>
                  <a:srgbClr val="000000"/>
                </a:solidFill>
              </a:rPr>
              <a:t> consistent </a:t>
            </a:r>
            <a:r>
              <a:rPr b="1" lang="en" sz="1650">
                <a:solidFill>
                  <a:srgbClr val="000000"/>
                </a:solidFill>
              </a:rPr>
              <a:t>logic models</a:t>
            </a:r>
            <a:r>
              <a:rPr lang="en" sz="1650">
                <a:solidFill>
                  <a:srgbClr val="000000"/>
                </a:solidFill>
              </a:rPr>
              <a:t>, also when the </a:t>
            </a:r>
            <a:r>
              <a:rPr i="1" lang="en" sz="1650">
                <a:solidFill>
                  <a:schemeClr val="dk1"/>
                </a:solidFill>
              </a:rPr>
              <a:t>prior knowledge</a:t>
            </a:r>
            <a:r>
              <a:rPr lang="en" sz="1650">
                <a:solidFill>
                  <a:schemeClr val="dk1"/>
                </a:solidFill>
              </a:rPr>
              <a:t> (e.g., documents and prompts)</a:t>
            </a:r>
            <a:r>
              <a:rPr lang="en" sz="1650">
                <a:solidFill>
                  <a:srgbClr val="000000"/>
                </a:solidFill>
              </a:rPr>
              <a:t> is </a:t>
            </a:r>
            <a:r>
              <a:rPr b="1" lang="en" sz="1650">
                <a:solidFill>
                  <a:srgbClr val="000000"/>
                </a:solidFill>
              </a:rPr>
              <a:t>qualitative</a:t>
            </a:r>
            <a:r>
              <a:rPr lang="en" sz="1650">
                <a:solidFill>
                  <a:srgbClr val="000000"/>
                </a:solidFill>
              </a:rPr>
              <a:t> and </a:t>
            </a:r>
            <a:r>
              <a:rPr b="1" lang="en" sz="1650">
                <a:solidFill>
                  <a:srgbClr val="000000"/>
                </a:solidFill>
              </a:rPr>
              <a:t>partial</a:t>
            </a:r>
            <a:r>
              <a:rPr lang="en" sz="1650">
                <a:solidFill>
                  <a:srgbClr val="000000"/>
                </a:solidFill>
              </a:rPr>
              <a:t>. </a:t>
            </a:r>
            <a:endParaRPr sz="16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LLM can overcome issues of traditional </a:t>
            </a:r>
            <a:r>
              <a:rPr i="1" lang="en" sz="1400">
                <a:solidFill>
                  <a:srgbClr val="000000"/>
                </a:solidFill>
              </a:rPr>
              <a:t>expert systems</a:t>
            </a:r>
            <a:r>
              <a:rPr lang="en" sz="1400">
                <a:solidFill>
                  <a:srgbClr val="000000"/>
                </a:solidFill>
              </a:rPr>
              <a:t> since hand-made data models often are unreliable and hard to maintain/extend.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rgbClr val="000000"/>
                </a:solidFill>
              </a:rPr>
              <a:t>The PoC stresses this aspect by providing </a:t>
            </a:r>
            <a:br>
              <a:rPr b="1" lang="en" sz="1900">
                <a:solidFill>
                  <a:srgbClr val="000000"/>
                </a:solidFill>
              </a:rPr>
            </a:br>
            <a:r>
              <a:rPr b="1" lang="en" sz="1900">
                <a:solidFill>
                  <a:srgbClr val="000000"/>
                </a:solidFill>
              </a:rPr>
              <a:t>limited prior knowledge to LLM prompts.</a:t>
            </a:r>
            <a:br>
              <a:rPr b="1" lang="en">
                <a:solidFill>
                  <a:srgbClr val="000000"/>
                </a:solidFill>
              </a:rPr>
            </a:br>
            <a:r>
              <a:rPr i="1" lang="en" sz="1248">
                <a:solidFill>
                  <a:srgbClr val="000000"/>
                </a:solidFill>
              </a:rPr>
              <a:t>However, when available, more detailed information about the scenario and tasks will likely increase accuracy.</a:t>
            </a:r>
            <a:endParaRPr i="1" sz="1248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2157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How Can LLM Leverage Ontologies to Retrieve Data?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099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>
                <a:solidFill>
                  <a:srgbClr val="000000"/>
                </a:solidFill>
              </a:rPr>
              <a:t>Highly linked data is well-suited for being contextualised in an </a:t>
            </a:r>
            <a:r>
              <a:rPr b="1" lang="en" sz="1650">
                <a:solidFill>
                  <a:srgbClr val="000000"/>
                </a:solidFill>
              </a:rPr>
              <a:t>ontology</a:t>
            </a:r>
            <a:r>
              <a:rPr lang="en" sz="1650">
                <a:solidFill>
                  <a:srgbClr val="000000"/>
                </a:solidFill>
              </a:rPr>
              <a:t> that the </a:t>
            </a:r>
            <a:r>
              <a:rPr b="1" lang="en" sz="1650">
                <a:solidFill>
                  <a:srgbClr val="000000"/>
                </a:solidFill>
              </a:rPr>
              <a:t>LLM can explore</a:t>
            </a:r>
            <a:r>
              <a:rPr lang="en" sz="1650">
                <a:solidFill>
                  <a:srgbClr val="000000"/>
                </a:solidFill>
              </a:rPr>
              <a:t> and benefit from (e.g., via SPARQL queries). </a:t>
            </a:r>
            <a:r>
              <a:rPr lang="en">
                <a:solidFill>
                  <a:srgbClr val="000000"/>
                </a:solidFill>
              </a:rPr>
              <a:t>   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At the cost of </a:t>
            </a:r>
            <a:r>
              <a:rPr i="1" lang="en" sz="1400">
                <a:solidFill>
                  <a:srgbClr val="000000"/>
                </a:solidFill>
              </a:rPr>
              <a:t>system </a:t>
            </a:r>
            <a:r>
              <a:rPr lang="en" sz="1400">
                <a:solidFill>
                  <a:srgbClr val="000000"/>
                </a:solidFill>
              </a:rPr>
              <a:t>complexity, ontologies have several benefits. For example, they support sparse data retrieval, explainability, context-based agent orchestration, consistency checking and error recovery.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000000"/>
                </a:solidFill>
              </a:rPr>
              <a:t>The PoC stresses this aspect by enabling the LLM </a:t>
            </a:r>
            <a:br>
              <a:rPr b="1" lang="en" sz="1900">
                <a:solidFill>
                  <a:srgbClr val="000000"/>
                </a:solidFill>
              </a:rPr>
            </a:br>
            <a:r>
              <a:rPr b="1" lang="en" sz="1900">
                <a:solidFill>
                  <a:srgbClr val="000000"/>
                </a:solidFill>
              </a:rPr>
              <a:t>to retrieve data through SPARQL instead of vector search.</a:t>
            </a:r>
            <a:br>
              <a:rPr b="1" lang="en">
                <a:solidFill>
                  <a:srgbClr val="000000"/>
                </a:solidFill>
              </a:rPr>
            </a:br>
            <a:r>
              <a:rPr i="1" lang="en" sz="1248">
                <a:solidFill>
                  <a:srgbClr val="000000"/>
                </a:solidFill>
              </a:rPr>
              <a:t>However, a combination of vector-search and queries would increase accuracy and decrease computation time.</a:t>
            </a:r>
            <a:endParaRPr i="1" sz="19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Implementation</a:t>
            </a:r>
            <a:endParaRPr b="1"/>
          </a:p>
        </p:txBody>
      </p:sp>
      <p:sp>
        <p:nvSpPr>
          <p:cNvPr id="74" name="Google Shape;74;p16"/>
          <p:cNvSpPr txBox="1"/>
          <p:nvPr/>
        </p:nvSpPr>
        <p:spPr>
          <a:xfrm>
            <a:off x="5051375" y="2076750"/>
            <a:ext cx="3987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5" name="Google Shape;75;p16" title="sw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3925" y="1304117"/>
            <a:ext cx="8256149" cy="3140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7"/>
          <p:cNvSpPr txBox="1"/>
          <p:nvPr>
            <p:ph type="title"/>
          </p:nvPr>
        </p:nvSpPr>
        <p:spPr>
          <a:xfrm>
            <a:off x="311700" y="2069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Results</a:t>
            </a:r>
            <a:endParaRPr b="1"/>
          </a:p>
        </p:txBody>
      </p:sp>
      <p:sp>
        <p:nvSpPr>
          <p:cNvPr id="81" name="Google Shape;81;p17"/>
          <p:cNvSpPr txBox="1"/>
          <p:nvPr>
            <p:ph idx="1" type="body"/>
          </p:nvPr>
        </p:nvSpPr>
        <p:spPr>
          <a:xfrm>
            <a:off x="311700" y="10819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50">
                <a:solidFill>
                  <a:srgbClr val="000000"/>
                </a:solidFill>
              </a:rPr>
              <a:t>Step 1:</a:t>
            </a:r>
            <a:r>
              <a:rPr lang="en" sz="1650">
                <a:solidFill>
                  <a:srgbClr val="000000"/>
                </a:solidFill>
              </a:rPr>
              <a:t>	</a:t>
            </a:r>
            <a:r>
              <a:rPr b="1" lang="en" sz="1650">
                <a:solidFill>
                  <a:srgbClr val="000000"/>
                </a:solidFill>
              </a:rPr>
              <a:t>Ontology Creation</a:t>
            </a:r>
            <a:endParaRPr b="1" sz="1650">
              <a:solidFill>
                <a:srgbClr val="000000"/>
              </a:solidFill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The LLM represented </a:t>
            </a:r>
            <a:r>
              <a:rPr b="1" lang="en" sz="1400">
                <a:solidFill>
                  <a:srgbClr val="000000"/>
                </a:solidFill>
              </a:rPr>
              <a:t>structured</a:t>
            </a:r>
            <a:r>
              <a:rPr lang="en" sz="1400">
                <a:solidFill>
                  <a:srgbClr val="000000"/>
                </a:solidFill>
              </a:rPr>
              <a:t> data in the ontology </a:t>
            </a:r>
            <a:r>
              <a:rPr b="1" lang="en" sz="1400">
                <a:solidFill>
                  <a:srgbClr val="000000"/>
                </a:solidFill>
              </a:rPr>
              <a:t>better</a:t>
            </a:r>
            <a:r>
              <a:rPr lang="en" sz="1400">
                <a:solidFill>
                  <a:srgbClr val="000000"/>
                </a:solidFill>
              </a:rPr>
              <a:t> than </a:t>
            </a:r>
            <a:r>
              <a:rPr b="1" lang="en" sz="1400">
                <a:solidFill>
                  <a:srgbClr val="000000"/>
                </a:solidFill>
              </a:rPr>
              <a:t>unstructured</a:t>
            </a:r>
            <a:r>
              <a:rPr lang="en" sz="1400">
                <a:solidFill>
                  <a:srgbClr val="000000"/>
                </a:solidFill>
              </a:rPr>
              <a:t> text.  </a:t>
            </a:r>
            <a:endParaRPr sz="1400">
              <a:solidFill>
                <a:srgbClr val="000000"/>
              </a:solidFill>
            </a:endParaRPr>
          </a:p>
          <a:p>
            <a:pPr indent="-310832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The LLM </a:t>
            </a:r>
            <a:r>
              <a:rPr b="1" lang="en" sz="1400">
                <a:solidFill>
                  <a:srgbClr val="000000"/>
                </a:solidFill>
              </a:rPr>
              <a:t>annotated</a:t>
            </a:r>
            <a:r>
              <a:rPr lang="en" sz="1400">
                <a:solidFill>
                  <a:srgbClr val="000000"/>
                </a:solidFill>
              </a:rPr>
              <a:t> ontological entities to enhance </a:t>
            </a:r>
            <a:r>
              <a:rPr b="1" lang="en" sz="1400">
                <a:solidFill>
                  <a:srgbClr val="000000"/>
                </a:solidFill>
              </a:rPr>
              <a:t>reasoning based on natural language</a:t>
            </a:r>
            <a:r>
              <a:rPr lang="en" sz="1400">
                <a:solidFill>
                  <a:srgbClr val="000000"/>
                </a:solidFill>
              </a:rPr>
              <a:t>.  </a:t>
            </a:r>
            <a:endParaRPr sz="1400">
              <a:solidFill>
                <a:srgbClr val="000000"/>
              </a:solidFill>
            </a:endParaRPr>
          </a:p>
          <a:p>
            <a:pPr indent="-310832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The generated ontology (about 900 facts) had few </a:t>
            </a:r>
            <a:r>
              <a:rPr b="1" lang="en" sz="1400">
                <a:solidFill>
                  <a:srgbClr val="000000"/>
                </a:solidFill>
              </a:rPr>
              <a:t>redundancies</a:t>
            </a:r>
            <a:r>
              <a:rPr lang="en" sz="1400">
                <a:solidFill>
                  <a:srgbClr val="000000"/>
                </a:solidFill>
              </a:rPr>
              <a:t> and was </a:t>
            </a:r>
            <a:r>
              <a:rPr b="1" i="1" lang="en" sz="1400">
                <a:solidFill>
                  <a:srgbClr val="000000"/>
                </a:solidFill>
              </a:rPr>
              <a:t>human-readable</a:t>
            </a:r>
            <a:r>
              <a:rPr lang="en" sz="1400">
                <a:solidFill>
                  <a:srgbClr val="000000"/>
                </a:solidFill>
              </a:rPr>
              <a:t>. 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1650">
                <a:solidFill>
                  <a:srgbClr val="000000"/>
                </a:solidFill>
              </a:rPr>
              <a:t>Step 2:</a:t>
            </a:r>
            <a:r>
              <a:rPr lang="en" sz="1650">
                <a:solidFill>
                  <a:srgbClr val="000000"/>
                </a:solidFill>
              </a:rPr>
              <a:t>	</a:t>
            </a:r>
            <a:r>
              <a:rPr b="1" lang="en" sz="1650">
                <a:solidFill>
                  <a:srgbClr val="000000"/>
                </a:solidFill>
              </a:rPr>
              <a:t>Data Retrieval </a:t>
            </a:r>
            <a:endParaRPr b="1" sz="1650">
              <a:solidFill>
                <a:srgbClr val="000000"/>
              </a:solidFill>
            </a:endParaRPr>
          </a:p>
          <a:p>
            <a:pPr indent="-310832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The </a:t>
            </a:r>
            <a:r>
              <a:rPr b="1" lang="en" sz="1400">
                <a:solidFill>
                  <a:srgbClr val="000000"/>
                </a:solidFill>
              </a:rPr>
              <a:t>LLM explored the ontology</a:t>
            </a:r>
            <a:r>
              <a:rPr lang="en" sz="1400">
                <a:solidFill>
                  <a:srgbClr val="000000"/>
                </a:solidFill>
              </a:rPr>
              <a:t> and found each answer </a:t>
            </a:r>
            <a:r>
              <a:rPr b="1" lang="en" sz="1400">
                <a:solidFill>
                  <a:srgbClr val="000000"/>
                </a:solidFill>
              </a:rPr>
              <a:t>with 1 or 2 queries</a:t>
            </a:r>
            <a:r>
              <a:rPr lang="en" sz="1400">
                <a:solidFill>
                  <a:srgbClr val="000000"/>
                </a:solidFill>
              </a:rPr>
              <a:t>. </a:t>
            </a:r>
            <a:endParaRPr sz="1400">
              <a:solidFill>
                <a:srgbClr val="000000"/>
              </a:solidFill>
            </a:endParaRPr>
          </a:p>
          <a:p>
            <a:pPr indent="-310832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Over </a:t>
            </a:r>
            <a:r>
              <a:rPr b="1" lang="en" sz="1400">
                <a:solidFill>
                  <a:srgbClr val="000000"/>
                </a:solidFill>
              </a:rPr>
              <a:t>20 questions</a:t>
            </a:r>
            <a:r>
              <a:rPr lang="en" sz="1400">
                <a:solidFill>
                  <a:srgbClr val="000000"/>
                </a:solidFill>
              </a:rPr>
              <a:t>: 16 were correct, 1 was partially correct, 1 was incorrect, and 3 had no answer.</a:t>
            </a:r>
            <a:endParaRPr sz="1400">
              <a:solidFill>
                <a:srgbClr val="000000"/>
              </a:solidFill>
            </a:endParaRPr>
          </a:p>
          <a:p>
            <a:pPr indent="-310832" lvl="0" marL="457200" rtl="0" algn="l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ct val="100000"/>
              <a:buChar char="●"/>
            </a:pPr>
            <a:r>
              <a:rPr lang="en" sz="1400">
                <a:solidFill>
                  <a:srgbClr val="000000"/>
                </a:solidFill>
              </a:rPr>
              <a:t>The </a:t>
            </a:r>
            <a:r>
              <a:rPr b="1" lang="en" sz="1400">
                <a:solidFill>
                  <a:srgbClr val="000000"/>
                </a:solidFill>
              </a:rPr>
              <a:t>LLM explained</a:t>
            </a:r>
            <a:r>
              <a:rPr lang="en" sz="1400">
                <a:solidFill>
                  <a:srgbClr val="000000"/>
                </a:solidFill>
              </a:rPr>
              <a:t> the performed queries in a </a:t>
            </a:r>
            <a:r>
              <a:rPr b="1" lang="en" sz="1400">
                <a:solidFill>
                  <a:srgbClr val="000000"/>
                </a:solidFill>
              </a:rPr>
              <a:t>reproducible</a:t>
            </a:r>
            <a:r>
              <a:rPr lang="en" sz="1400">
                <a:solidFill>
                  <a:srgbClr val="000000"/>
                </a:solidFill>
              </a:rPr>
              <a:t> manner.</a:t>
            </a:r>
            <a:endParaRPr sz="1400">
              <a:solidFill>
                <a:srgbClr val="000000"/>
              </a:solidFill>
            </a:endParaRPr>
          </a:p>
          <a:p>
            <a:pPr indent="0" lvl="0" marL="45720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215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Limitations and </a:t>
            </a:r>
            <a:r>
              <a:rPr b="1" lang="en"/>
              <a:t>Improvements</a:t>
            </a:r>
            <a:endParaRPr b="1"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081900"/>
            <a:ext cx="8520600" cy="352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</a:rPr>
              <a:t>The PoC has a large room for improvement, especially when addressing these limitations: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The implemented LLM tools address a </a:t>
            </a:r>
            <a:r>
              <a:rPr b="1" lang="en" sz="1400">
                <a:solidFill>
                  <a:srgbClr val="000000"/>
                </a:solidFill>
              </a:rPr>
              <a:t>fragment of the OWL formalism</a:t>
            </a:r>
            <a:r>
              <a:rPr lang="en" sz="1400">
                <a:solidFill>
                  <a:srgbClr val="000000"/>
                </a:solidFill>
              </a:rPr>
              <a:t>, and they do not allow for automatic instance classification. 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b="1" lang="en" sz="1400">
                <a:solidFill>
                  <a:srgbClr val="000000"/>
                </a:solidFill>
              </a:rPr>
              <a:t>OWL Reasoners</a:t>
            </a:r>
            <a:r>
              <a:rPr lang="en" sz="1400">
                <a:solidFill>
                  <a:srgbClr val="000000"/>
                </a:solidFill>
              </a:rPr>
              <a:t> have not been used to support LLM. For example, </a:t>
            </a:r>
            <a:r>
              <a:rPr lang="en" sz="1400">
                <a:solidFill>
                  <a:schemeClr val="dk1"/>
                </a:solidFill>
              </a:rPr>
              <a:t>they could provide </a:t>
            </a:r>
            <a:r>
              <a:rPr b="1" lang="en" sz="1400">
                <a:solidFill>
                  <a:schemeClr val="dk1"/>
                </a:solidFill>
              </a:rPr>
              <a:t>consistency feedbacks</a:t>
            </a:r>
            <a:r>
              <a:rPr lang="en" sz="1400">
                <a:solidFill>
                  <a:schemeClr val="dk1"/>
                </a:solidFill>
              </a:rPr>
              <a:t> to the LLM </a:t>
            </a:r>
            <a:r>
              <a:rPr lang="en" sz="1400">
                <a:solidFill>
                  <a:srgbClr val="000000"/>
                </a:solidFill>
              </a:rPr>
              <a:t>for </a:t>
            </a:r>
            <a:r>
              <a:rPr b="1" lang="en" sz="1400">
                <a:solidFill>
                  <a:srgbClr val="000000"/>
                </a:solidFill>
              </a:rPr>
              <a:t>self-improvement</a:t>
            </a:r>
            <a:r>
              <a:rPr lang="en" sz="1400">
                <a:solidFill>
                  <a:srgbClr val="000000"/>
                </a:solidFill>
              </a:rPr>
              <a:t> and </a:t>
            </a:r>
            <a:r>
              <a:rPr b="1" lang="en" sz="1400">
                <a:solidFill>
                  <a:srgbClr val="000000"/>
                </a:solidFill>
              </a:rPr>
              <a:t>error recovery</a:t>
            </a:r>
            <a:r>
              <a:rPr lang="en" sz="1400">
                <a:solidFill>
                  <a:srgbClr val="000000"/>
                </a:solidFill>
              </a:rPr>
              <a:t>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LLM with limited prior knowledge generates </a:t>
            </a:r>
            <a:r>
              <a:rPr b="1" lang="en" sz="1400">
                <a:solidFill>
                  <a:srgbClr val="000000"/>
                </a:solidFill>
              </a:rPr>
              <a:t>granular ontologies</a:t>
            </a:r>
            <a:r>
              <a:rPr lang="en" sz="1400">
                <a:solidFill>
                  <a:srgbClr val="000000"/>
                </a:solidFill>
              </a:rPr>
              <a:t>. More </a:t>
            </a:r>
            <a:r>
              <a:rPr b="1" lang="en" sz="1400">
                <a:solidFill>
                  <a:srgbClr val="000000"/>
                </a:solidFill>
              </a:rPr>
              <a:t>prior knowledge</a:t>
            </a:r>
            <a:r>
              <a:rPr lang="en" sz="1400">
                <a:solidFill>
                  <a:srgbClr val="000000"/>
                </a:solidFill>
              </a:rPr>
              <a:t> and a </a:t>
            </a:r>
            <a:r>
              <a:rPr b="1" lang="en" sz="1400">
                <a:solidFill>
                  <a:srgbClr val="000000"/>
                </a:solidFill>
              </a:rPr>
              <a:t>fine-tuned</a:t>
            </a:r>
            <a:r>
              <a:rPr lang="en" sz="1400">
                <a:solidFill>
                  <a:srgbClr val="000000"/>
                </a:solidFill>
              </a:rPr>
              <a:t> LLM would </a:t>
            </a:r>
            <a:r>
              <a:rPr b="1" lang="en" sz="1400">
                <a:solidFill>
                  <a:srgbClr val="000000"/>
                </a:solidFill>
              </a:rPr>
              <a:t>decrease the number of facts</a:t>
            </a:r>
            <a:r>
              <a:rPr lang="en" sz="1400">
                <a:solidFill>
                  <a:srgbClr val="000000"/>
                </a:solidFill>
              </a:rPr>
              <a:t> in the ontology with no semantic loss.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The PoC does not implement </a:t>
            </a:r>
            <a:r>
              <a:rPr b="1" lang="en" sz="1400">
                <a:solidFill>
                  <a:srgbClr val="000000"/>
                </a:solidFill>
              </a:rPr>
              <a:t>concurrent LLM agents</a:t>
            </a:r>
            <a:r>
              <a:rPr lang="en" sz="1400">
                <a:solidFill>
                  <a:srgbClr val="000000"/>
                </a:solidFill>
              </a:rPr>
              <a:t>, which would decrease computation time.</a:t>
            </a:r>
            <a:endParaRPr sz="1400">
              <a:solidFill>
                <a:srgbClr val="000000"/>
              </a:solidFill>
            </a:endParaRPr>
          </a:p>
          <a:p>
            <a:pPr indent="-317500" lvl="0" marL="457200" rtl="0" algn="l">
              <a:lnSpc>
                <a:spcPct val="12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400"/>
              <a:buChar char="●"/>
            </a:pPr>
            <a:r>
              <a:rPr lang="en" sz="1400">
                <a:solidFill>
                  <a:srgbClr val="000000"/>
                </a:solidFill>
              </a:rPr>
              <a:t>Retrieving</a:t>
            </a:r>
            <a:r>
              <a:rPr lang="en" sz="1400">
                <a:solidFill>
                  <a:srgbClr val="000000"/>
                </a:solidFill>
              </a:rPr>
              <a:t> data only with SPARQL is an extreme case. </a:t>
            </a:r>
            <a:r>
              <a:rPr b="1" lang="en" sz="1400">
                <a:solidFill>
                  <a:srgbClr val="000000"/>
                </a:solidFill>
              </a:rPr>
              <a:t>Ontologies integrated with Graph or Vector DBs</a:t>
            </a:r>
            <a:r>
              <a:rPr lang="en" sz="1400">
                <a:solidFill>
                  <a:srgbClr val="000000"/>
                </a:solidFill>
              </a:rPr>
              <a:t> would improve data retrieval performance.</a:t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AFA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>
            <p:ph type="ctrTitle"/>
          </p:nvPr>
        </p:nvSpPr>
        <p:spPr>
          <a:xfrm>
            <a:off x="311700" y="1221375"/>
            <a:ext cx="8520600" cy="93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your attention</a:t>
            </a:r>
            <a:endParaRPr/>
          </a:p>
        </p:txBody>
      </p:sp>
      <p:sp>
        <p:nvSpPr>
          <p:cNvPr id="93" name="Google Shape;93;p19"/>
          <p:cNvSpPr txBox="1"/>
          <p:nvPr>
            <p:ph idx="4294967295" type="body"/>
          </p:nvPr>
        </p:nvSpPr>
        <p:spPr>
          <a:xfrm>
            <a:off x="431850" y="2571750"/>
            <a:ext cx="8280300" cy="234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/>
              <a:t>More details are available in the PoC repository:</a:t>
            </a:r>
            <a:br>
              <a:rPr lang="en" sz="1400"/>
            </a:br>
            <a:r>
              <a:rPr lang="en" sz="1400"/>
              <a:t>___________________________________________</a:t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400"/>
              <a:t>Luca Buoncompagni</a:t>
            </a:r>
            <a:br>
              <a:rPr lang="en" sz="1400"/>
            </a:br>
            <a:r>
              <a:rPr lang="en" sz="1400"/>
              <a:t>06/11/2025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